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Aptos Narrow" panose="020B0004020202020204" pitchFamily="34" charset="0"/>
      <p:regular r:id="rId17"/>
      <p:bold r:id="rId18"/>
    </p:embeddedFont>
    <p:embeddedFont>
      <p:font typeface="Public Sans" panose="020B0604020202020204" charset="0"/>
      <p:regular r:id="rId19"/>
    </p:embeddedFont>
    <p:embeddedFont>
      <p:font typeface="Public Sans Bold" panose="020B0604020202020204" charset="0"/>
      <p:regular r:id="rId20"/>
    </p:embeddedFont>
    <p:embeddedFont>
      <p:font typeface="The Youngest Serif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5DF52C-CA54-740A-17B5-DF9FE93322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38C7F-B062-311A-07E3-E7CA5F79B5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5E8B5-611C-4972-8F48-FF9EB08AE4E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2D01F-2B90-5EDC-F94A-C8E930EFCC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06101-E772-0AA5-4153-58B4B005FA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AAB5C-B2B1-4199-89BC-1AB274279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2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BA6EA-3C10-416D-BAAC-67C381314E2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87C21-9B1F-4CEE-890A-9E87B6B86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27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87C21-9B1F-4CEE-890A-9E87B6B8650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57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8724900"/>
            <a:ext cx="7858125" cy="1562100"/>
            <a:chOff x="0" y="0"/>
            <a:chExt cx="1397000" cy="2777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7000" cy="277707"/>
            </a:xfrm>
            <a:custGeom>
              <a:avLst/>
              <a:gdLst/>
              <a:ahLst/>
              <a:cxnLst/>
              <a:rect l="l" t="t" r="r" b="b"/>
              <a:pathLst>
                <a:path w="1397000" h="277707">
                  <a:moveTo>
                    <a:pt x="0" y="0"/>
                  </a:moveTo>
                  <a:lnTo>
                    <a:pt x="1397000" y="0"/>
                  </a:lnTo>
                  <a:lnTo>
                    <a:pt x="13970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63769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97000" cy="334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29875" y="0"/>
            <a:ext cx="7858125" cy="8724900"/>
            <a:chOff x="0" y="0"/>
            <a:chExt cx="1217429" cy="1351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7429" cy="1351715"/>
            </a:xfrm>
            <a:custGeom>
              <a:avLst/>
              <a:gdLst/>
              <a:ahLst/>
              <a:cxnLst/>
              <a:rect l="l" t="t" r="r" b="b"/>
              <a:pathLst>
                <a:path w="1217429" h="1351715">
                  <a:moveTo>
                    <a:pt x="0" y="0"/>
                  </a:moveTo>
                  <a:lnTo>
                    <a:pt x="1217429" y="0"/>
                  </a:lnTo>
                  <a:lnTo>
                    <a:pt x="1217429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2"/>
              <a:stretch>
                <a:fillRect t="-245" b="-24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76275" y="9074800"/>
            <a:ext cx="6877050" cy="581976"/>
            <a:chOff x="0" y="0"/>
            <a:chExt cx="9169400" cy="775968"/>
          </a:xfrm>
        </p:grpSpPr>
        <p:sp>
          <p:nvSpPr>
            <p:cNvPr id="8" name="TextBox 8"/>
            <p:cNvSpPr txBox="1"/>
            <p:nvPr/>
          </p:nvSpPr>
          <p:spPr>
            <a:xfrm>
              <a:off x="1027306" y="68118"/>
              <a:ext cx="8142094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D7DDE6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Idris Shah, Data Analyst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775968" cy="775968"/>
            </a:xfrm>
            <a:custGeom>
              <a:avLst/>
              <a:gdLst/>
              <a:ahLst/>
              <a:cxnLst/>
              <a:rect l="l" t="t" r="r" b="b"/>
              <a:pathLst>
                <a:path w="775968" h="775968">
                  <a:moveTo>
                    <a:pt x="0" y="0"/>
                  </a:moveTo>
                  <a:lnTo>
                    <a:pt x="775968" y="0"/>
                  </a:lnTo>
                  <a:lnTo>
                    <a:pt x="775968" y="775968"/>
                  </a:lnTo>
                  <a:lnTo>
                    <a:pt x="0" y="775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172950" y="9298001"/>
            <a:ext cx="4314825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</a:pPr>
            <a:r>
              <a:rPr lang="en-US" sz="2000" dirty="0">
                <a:solidFill>
                  <a:srgbClr val="D7DDE6"/>
                </a:solidFill>
                <a:latin typeface="Public Sans"/>
                <a:ea typeface="Public Sans"/>
                <a:cs typeface="Public Sans"/>
                <a:sym typeface="Public Sans"/>
              </a:rPr>
              <a:t>NOVEMBER 2025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6750" y="666750"/>
            <a:ext cx="8324850" cy="6661787"/>
            <a:chOff x="0" y="0"/>
            <a:chExt cx="11099800" cy="888238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089778"/>
              <a:ext cx="11099800" cy="1792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24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 in-depth exploration of 5000 laptops, examining pricing, specifications, performance metrics, and overall value to aid consumer choices.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" y="-57150"/>
              <a:ext cx="11087100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Tech Insights Group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" y="1021292"/>
              <a:ext cx="11087100" cy="5735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000"/>
                </a:lnSpc>
              </a:pPr>
              <a:r>
                <a:rPr lang="en-US" sz="11000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Laptop Pricing Analysis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724900"/>
            <a:ext cx="9144000" cy="1562100"/>
            <a:chOff x="0" y="0"/>
            <a:chExt cx="1811851" cy="309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1851" cy="309525"/>
            </a:xfrm>
            <a:custGeom>
              <a:avLst/>
              <a:gdLst/>
              <a:ahLst/>
              <a:cxnLst/>
              <a:rect l="l" t="t" r="r" b="b"/>
              <a:pathLst>
                <a:path w="1811851" h="309525">
                  <a:moveTo>
                    <a:pt x="0" y="0"/>
                  </a:moveTo>
                  <a:lnTo>
                    <a:pt x="1811851" y="0"/>
                  </a:lnTo>
                  <a:lnTo>
                    <a:pt x="1811851" y="309525"/>
                  </a:lnTo>
                  <a:lnTo>
                    <a:pt x="0" y="309525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11851" cy="366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24900"/>
            <a:ext cx="9144000" cy="1562100"/>
            <a:chOff x="0" y="0"/>
            <a:chExt cx="1625600" cy="277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" cy="277707"/>
            </a:xfrm>
            <a:custGeom>
              <a:avLst/>
              <a:gdLst/>
              <a:ahLst/>
              <a:cxnLst/>
              <a:rect l="l" t="t" r="r" b="b"/>
              <a:pathLst>
                <a:path w="1625600" h="277707">
                  <a:moveTo>
                    <a:pt x="0" y="0"/>
                  </a:moveTo>
                  <a:lnTo>
                    <a:pt x="1625600" y="0"/>
                  </a:lnTo>
                  <a:lnTo>
                    <a:pt x="16256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25600" cy="334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670716"/>
            <a:ext cx="8324850" cy="1447799"/>
            <a:chOff x="0" y="0"/>
            <a:chExt cx="11099800" cy="1930399"/>
          </a:xfrm>
        </p:grpSpPr>
        <p:sp>
          <p:nvSpPr>
            <p:cNvPr id="9" name="TextBox 9"/>
            <p:cNvSpPr txBox="1"/>
            <p:nvPr/>
          </p:nvSpPr>
          <p:spPr>
            <a:xfrm>
              <a:off x="5753100" y="-76200"/>
              <a:ext cx="5346700" cy="2006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u="none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Analyzing pricing helps identify trends and various factors influencing laptop costs, aiding in better purchasing decisions.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Pricing Analysis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2800"/>
            <a:ext cx="8324850" cy="1828799"/>
            <a:chOff x="0" y="0"/>
            <a:chExt cx="11099800" cy="2438399"/>
          </a:xfrm>
        </p:grpSpPr>
        <p:sp>
          <p:nvSpPr>
            <p:cNvPr id="12" name="TextBox 12"/>
            <p:cNvSpPr txBox="1"/>
            <p:nvPr/>
          </p:nvSpPr>
          <p:spPr>
            <a:xfrm>
              <a:off x="5753100" y="-76200"/>
              <a:ext cx="5346700" cy="2514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Understanding how specs affect pricing empowers consumers to choose the best laptops according to their needs and budgets.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346700" cy="1064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Consumer Decision-Making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6038850"/>
            <a:ext cx="8324850" cy="1828799"/>
            <a:chOff x="0" y="0"/>
            <a:chExt cx="11099800" cy="2438399"/>
          </a:xfrm>
        </p:grpSpPr>
        <p:sp>
          <p:nvSpPr>
            <p:cNvPr id="15" name="TextBox 15"/>
            <p:cNvSpPr txBox="1"/>
            <p:nvPr/>
          </p:nvSpPr>
          <p:spPr>
            <a:xfrm>
              <a:off x="5753100" y="-76200"/>
              <a:ext cx="5346700" cy="2514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Insights derived from this analysis will assist brands in determining strategic pricing for effective market positioning and competitive advantage.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Market Positioning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6750" y="647065"/>
            <a:ext cx="6886575" cy="2946775"/>
            <a:chOff x="0" y="0"/>
            <a:chExt cx="9182100" cy="392903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9050"/>
              <a:ext cx="9182100" cy="1213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14"/>
                </a:lnSpc>
                <a:spcBef>
                  <a:spcPct val="0"/>
                </a:spcBef>
              </a:pPr>
              <a:r>
                <a:rPr lang="en-US" sz="6099" u="none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Project Objective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430434"/>
              <a:ext cx="9182100" cy="1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This project aims to analyze the </a:t>
              </a:r>
              <a:r>
                <a:rPr lang="en-US" sz="2000" b="1">
                  <a:solidFill>
                    <a:srgbClr val="D7DDE6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complex relationship</a:t>
              </a: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between laptop pricing, specifications, performance, and overall value metrics to guide informed consumer choices.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541433"/>
              <a:ext cx="91821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Understanding Laptop Pricing Dynamics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348" y="8724900"/>
            <a:ext cx="7874473" cy="1562100"/>
            <a:chOff x="0" y="0"/>
            <a:chExt cx="2073935" cy="4114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3935" cy="411417"/>
            </a:xfrm>
            <a:custGeom>
              <a:avLst/>
              <a:gdLst/>
              <a:ahLst/>
              <a:cxnLst/>
              <a:rect l="l" t="t" r="r" b="b"/>
              <a:pathLst>
                <a:path w="2073935" h="411417">
                  <a:moveTo>
                    <a:pt x="0" y="0"/>
                  </a:moveTo>
                  <a:lnTo>
                    <a:pt x="2073935" y="0"/>
                  </a:lnTo>
                  <a:lnTo>
                    <a:pt x="2073935" y="411417"/>
                  </a:lnTo>
                  <a:lnTo>
                    <a:pt x="0" y="411417"/>
                  </a:lnTo>
                  <a:close/>
                </a:path>
              </a:pathLst>
            </a:custGeom>
            <a:solidFill>
              <a:srgbClr val="2A3F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73935" cy="468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588"/>
            <a:ext cx="8324850" cy="4468603"/>
            <a:chOff x="0" y="0"/>
            <a:chExt cx="11099800" cy="5958138"/>
          </a:xfrm>
        </p:grpSpPr>
        <p:sp>
          <p:nvSpPr>
            <p:cNvPr id="6" name="TextBox 6"/>
            <p:cNvSpPr txBox="1"/>
            <p:nvPr/>
          </p:nvSpPr>
          <p:spPr>
            <a:xfrm>
              <a:off x="0" y="1727133"/>
              <a:ext cx="11099800" cy="4231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24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This section presents an overview of our dataset, comprising </a:t>
              </a:r>
              <a:r>
                <a:rPr lang="en-US" sz="2400" b="1">
                  <a:solidFill>
                    <a:srgbClr val="4A5D7C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5000 laptops</a:t>
              </a:r>
              <a:r>
                <a:rPr lang="en-US" sz="24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analyzed for key attributes such as RAM, storage, processor, battery life, operating system, performance score, price, and discount. Additionally, derived fields like the Value-for-Money (VFM) score, Overpriced score, and Price category offer insightful metrics for analysis.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1241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319"/>
                </a:lnSpc>
              </a:pPr>
              <a:r>
                <a:rPr lang="en-US" sz="6099" u="none">
                  <a:solidFill>
                    <a:srgbClr val="4A5D7C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Dataset Overview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296400" y="8724900"/>
            <a:ext cx="1664475" cy="895350"/>
          </a:xfrm>
          <a:custGeom>
            <a:avLst/>
            <a:gdLst/>
            <a:ahLst/>
            <a:cxnLst/>
            <a:rect l="l" t="t" r="r" b="b"/>
            <a:pathLst>
              <a:path w="1664475" h="895350">
                <a:moveTo>
                  <a:pt x="0" y="0"/>
                </a:moveTo>
                <a:lnTo>
                  <a:pt x="1664475" y="0"/>
                </a:lnTo>
                <a:lnTo>
                  <a:pt x="16644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90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16348" y="0"/>
            <a:ext cx="7874473" cy="8724900"/>
            <a:chOff x="0" y="0"/>
            <a:chExt cx="1219962" cy="1351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962" cy="1351715"/>
            </a:xfrm>
            <a:custGeom>
              <a:avLst/>
              <a:gdLst/>
              <a:ahLst/>
              <a:cxnLst/>
              <a:rect l="l" t="t" r="r" b="b"/>
              <a:pathLst>
                <a:path w="1219962" h="1351715">
                  <a:moveTo>
                    <a:pt x="0" y="0"/>
                  </a:moveTo>
                  <a:lnTo>
                    <a:pt x="1219962" y="0"/>
                  </a:lnTo>
                  <a:lnTo>
                    <a:pt x="1219962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4"/>
              <a:stretch>
                <a:fillRect t="-350" b="-35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724900"/>
            <a:ext cx="9144000" cy="1562100"/>
            <a:chOff x="0" y="0"/>
            <a:chExt cx="1811851" cy="309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1851" cy="309525"/>
            </a:xfrm>
            <a:custGeom>
              <a:avLst/>
              <a:gdLst/>
              <a:ahLst/>
              <a:cxnLst/>
              <a:rect l="l" t="t" r="r" b="b"/>
              <a:pathLst>
                <a:path w="1811851" h="309525">
                  <a:moveTo>
                    <a:pt x="0" y="0"/>
                  </a:moveTo>
                  <a:lnTo>
                    <a:pt x="1811851" y="0"/>
                  </a:lnTo>
                  <a:lnTo>
                    <a:pt x="1811851" y="309525"/>
                  </a:lnTo>
                  <a:lnTo>
                    <a:pt x="0" y="309525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11851" cy="366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24900"/>
            <a:ext cx="9144000" cy="1562100"/>
            <a:chOff x="0" y="0"/>
            <a:chExt cx="1625600" cy="277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" cy="277707"/>
            </a:xfrm>
            <a:custGeom>
              <a:avLst/>
              <a:gdLst/>
              <a:ahLst/>
              <a:cxnLst/>
              <a:rect l="l" t="t" r="r" b="b"/>
              <a:pathLst>
                <a:path w="1625600" h="277707">
                  <a:moveTo>
                    <a:pt x="0" y="0"/>
                  </a:moveTo>
                  <a:lnTo>
                    <a:pt x="1625600" y="0"/>
                  </a:lnTo>
                  <a:lnTo>
                    <a:pt x="16256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89A4C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25600" cy="334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670716"/>
            <a:ext cx="8324850" cy="1066799"/>
            <a:chOff x="0" y="0"/>
            <a:chExt cx="11099800" cy="1422399"/>
          </a:xfrm>
        </p:grpSpPr>
        <p:sp>
          <p:nvSpPr>
            <p:cNvPr id="9" name="TextBox 9"/>
            <p:cNvSpPr txBox="1"/>
            <p:nvPr/>
          </p:nvSpPr>
          <p:spPr>
            <a:xfrm>
              <a:off x="5753100" y="-76200"/>
              <a:ext cx="5346700" cy="1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u="none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Duplicate entries were meticulously identified and removed to ensure data integrity.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Removing Duplicates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2800"/>
            <a:ext cx="8324850" cy="1447799"/>
            <a:chOff x="0" y="0"/>
            <a:chExt cx="11099800" cy="1930399"/>
          </a:xfrm>
        </p:grpSpPr>
        <p:sp>
          <p:nvSpPr>
            <p:cNvPr id="12" name="TextBox 12"/>
            <p:cNvSpPr txBox="1"/>
            <p:nvPr/>
          </p:nvSpPr>
          <p:spPr>
            <a:xfrm>
              <a:off x="5753100" y="-76200"/>
              <a:ext cx="5346700" cy="2006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Missing values were addressed using appropriate imputation techniques to maintain analysis accuracy.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Handling Missing Values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6038850"/>
            <a:ext cx="8324850" cy="1066799"/>
            <a:chOff x="0" y="0"/>
            <a:chExt cx="11099800" cy="1422399"/>
          </a:xfrm>
        </p:grpSpPr>
        <p:sp>
          <p:nvSpPr>
            <p:cNvPr id="15" name="TextBox 15"/>
            <p:cNvSpPr txBox="1"/>
            <p:nvPr/>
          </p:nvSpPr>
          <p:spPr>
            <a:xfrm>
              <a:off x="5753100" y="-76200"/>
              <a:ext cx="5346700" cy="1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Prices were categorized into defined segments to facilitate clearer analysis and comparison.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Price Segmentation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6750" y="647065"/>
            <a:ext cx="6886575" cy="3451600"/>
            <a:chOff x="0" y="0"/>
            <a:chExt cx="9182100" cy="460213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9050"/>
              <a:ext cx="9182100" cy="2394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14"/>
                </a:lnSpc>
                <a:spcBef>
                  <a:spcPct val="0"/>
                </a:spcBef>
              </a:pPr>
              <a:r>
                <a:rPr lang="en-US" sz="6099" u="none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Data Cleaning &amp; EDA Summary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611534"/>
              <a:ext cx="9182100" cy="990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This section outlines the crucial steps taken in cleaning and preparing the dataset for analysis.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722533"/>
              <a:ext cx="91821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Essential steps for dataset preparation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441628" y="593239"/>
            <a:ext cx="5186149" cy="1723016"/>
            <a:chOff x="1030762" y="-46183"/>
            <a:chExt cx="9940119" cy="812537"/>
          </a:xfrm>
        </p:grpSpPr>
        <p:sp>
          <p:nvSpPr>
            <p:cNvPr id="9" name="TextBox 9"/>
            <p:cNvSpPr txBox="1"/>
            <p:nvPr/>
          </p:nvSpPr>
          <p:spPr>
            <a:xfrm>
              <a:off x="1030762" y="203560"/>
              <a:ext cx="9940119" cy="5627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u="none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price distribution chart shows a wide range of laptop prices across the dataset.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28049" y="-46183"/>
              <a:ext cx="6126232" cy="1893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3200" dirty="0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Price Distribution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2262" y="3516122"/>
            <a:ext cx="5764881" cy="1261778"/>
            <a:chOff x="719783" y="-176291"/>
            <a:chExt cx="8456313" cy="1002263"/>
          </a:xfrm>
        </p:grpSpPr>
        <p:sp>
          <p:nvSpPr>
            <p:cNvPr id="12" name="TextBox 12"/>
            <p:cNvSpPr txBox="1"/>
            <p:nvPr/>
          </p:nvSpPr>
          <p:spPr>
            <a:xfrm>
              <a:off x="719783" y="244376"/>
              <a:ext cx="8456313" cy="581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RAM versus price chart indicates how memory size correlates with pricing trends.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4637" y="-176291"/>
              <a:ext cx="4091948" cy="3189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3200" dirty="0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RAM vs Price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52262" y="5977767"/>
            <a:ext cx="5764880" cy="1293678"/>
            <a:chOff x="1042204" y="-1188213"/>
            <a:chExt cx="9892500" cy="1637443"/>
          </a:xfrm>
        </p:grpSpPr>
        <p:sp>
          <p:nvSpPr>
            <p:cNvPr id="15" name="TextBox 15"/>
            <p:cNvSpPr txBox="1"/>
            <p:nvPr/>
          </p:nvSpPr>
          <p:spPr>
            <a:xfrm>
              <a:off x="1042204" y="-477520"/>
              <a:ext cx="9892500" cy="9267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storage versus price chart reveals the impact of storage capacity on laptop pricing.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23864" y="-1188213"/>
              <a:ext cx="5346700" cy="50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3200" dirty="0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Storage vs Price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9162" y="250089"/>
            <a:ext cx="7476075" cy="4583734"/>
            <a:chOff x="474836" y="274389"/>
            <a:chExt cx="9182100" cy="1347033"/>
          </a:xfrm>
        </p:grpSpPr>
        <p:sp>
          <p:nvSpPr>
            <p:cNvPr id="18" name="TextBox 18"/>
            <p:cNvSpPr txBox="1"/>
            <p:nvPr/>
          </p:nvSpPr>
          <p:spPr>
            <a:xfrm>
              <a:off x="474836" y="274389"/>
              <a:ext cx="9182100" cy="51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14"/>
                </a:lnSpc>
                <a:spcBef>
                  <a:spcPct val="0"/>
                </a:spcBef>
              </a:pPr>
              <a:r>
                <a:rPr lang="en-US" sz="5400" u="none" dirty="0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Key Charts</a:t>
              </a:r>
            </a:p>
            <a:p>
              <a:pPr marL="0" lvl="0" indent="0" algn="l">
                <a:lnSpc>
                  <a:spcPts val="7014"/>
                </a:lnSpc>
                <a:spcBef>
                  <a:spcPct val="0"/>
                </a:spcBef>
              </a:pPr>
              <a:r>
                <a:rPr lang="en-US" sz="5400" u="none" dirty="0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Overview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6767" y="1293193"/>
              <a:ext cx="7815354" cy="3282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This section highlights key charts illustrating the </a:t>
              </a:r>
              <a:r>
                <a:rPr lang="en-US" sz="2000" b="1" dirty="0">
                  <a:solidFill>
                    <a:srgbClr val="D7DDE6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relationship between pricing and specifications</a:t>
              </a:r>
              <a:r>
                <a:rPr lang="en-US" sz="2000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of laptops.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7218" y="904507"/>
              <a:ext cx="4866612" cy="2336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800" dirty="0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Visualizing Laptop Pricing Trends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D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C1276-FDD6-BCE2-2535-67E672E1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4D2425-4CB0-2E82-43F0-2B82CC4D5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82" y="114301"/>
            <a:ext cx="17633236" cy="1000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9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348" y="8724900"/>
            <a:ext cx="7874473" cy="1562100"/>
            <a:chOff x="0" y="0"/>
            <a:chExt cx="2073935" cy="4114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3935" cy="411417"/>
            </a:xfrm>
            <a:custGeom>
              <a:avLst/>
              <a:gdLst/>
              <a:ahLst/>
              <a:cxnLst/>
              <a:rect l="l" t="t" r="r" b="b"/>
              <a:pathLst>
                <a:path w="2073935" h="411417">
                  <a:moveTo>
                    <a:pt x="0" y="0"/>
                  </a:moveTo>
                  <a:lnTo>
                    <a:pt x="2073935" y="0"/>
                  </a:lnTo>
                  <a:lnTo>
                    <a:pt x="2073935" y="411417"/>
                  </a:lnTo>
                  <a:lnTo>
                    <a:pt x="0" y="411417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73935" cy="468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15600" y="666588"/>
            <a:ext cx="7105650" cy="4468603"/>
            <a:chOff x="0" y="0"/>
            <a:chExt cx="11099800" cy="5958138"/>
          </a:xfrm>
        </p:grpSpPr>
        <p:sp>
          <p:nvSpPr>
            <p:cNvPr id="6" name="TextBox 6"/>
            <p:cNvSpPr txBox="1"/>
            <p:nvPr/>
          </p:nvSpPr>
          <p:spPr>
            <a:xfrm>
              <a:off x="0" y="1727133"/>
              <a:ext cx="11099800" cy="4231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2400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analysis reveals that </a:t>
              </a:r>
              <a:r>
                <a:rPr lang="en-US" sz="2400" b="1" dirty="0">
                  <a:solidFill>
                    <a:srgbClr val="D7DDE6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specifications have a weak influence</a:t>
              </a:r>
              <a:r>
                <a:rPr lang="en-US" sz="2400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on pricing, indicating that brand and market positioning play significant roles. Premium and luxury categories dominate market share, while mid-range laptops consistently deliver the best value-for-money, challenging traditional pricing perceptions and consumer expectations.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1241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319"/>
                </a:lnSpc>
              </a:pPr>
              <a:r>
                <a:rPr lang="en-US" sz="6099" u="none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Major Insights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296400" y="8724900"/>
            <a:ext cx="1664475" cy="895350"/>
          </a:xfrm>
          <a:custGeom>
            <a:avLst/>
            <a:gdLst/>
            <a:ahLst/>
            <a:cxnLst/>
            <a:rect l="l" t="t" r="r" b="b"/>
            <a:pathLst>
              <a:path w="1664475" h="895350">
                <a:moveTo>
                  <a:pt x="0" y="0"/>
                </a:moveTo>
                <a:lnTo>
                  <a:pt x="1664475" y="0"/>
                </a:lnTo>
                <a:lnTo>
                  <a:pt x="16644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85902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6348" y="0"/>
            <a:ext cx="10303348" cy="10287000"/>
          </a:xfrm>
          <a:custGeom>
            <a:avLst/>
            <a:gdLst/>
            <a:ahLst/>
            <a:cxnLst/>
            <a:rect l="l" t="t" r="r" b="b"/>
            <a:pathLst>
              <a:path w="1219962" h="1351715">
                <a:moveTo>
                  <a:pt x="0" y="0"/>
                </a:moveTo>
                <a:lnTo>
                  <a:pt x="1219962" y="0"/>
                </a:lnTo>
                <a:lnTo>
                  <a:pt x="1219962" y="1351715"/>
                </a:lnTo>
                <a:lnTo>
                  <a:pt x="0" y="1351715"/>
                </a:lnTo>
                <a:close/>
              </a:path>
            </a:pathLst>
          </a:custGeom>
          <a:blipFill>
            <a:blip r:embed="rId5"/>
            <a:stretch>
              <a:fillRect t="-300" b="-300"/>
            </a:stretch>
          </a:blipFill>
        </p:spPr>
      </p:sp>
      <p:pic>
        <p:nvPicPr>
          <p:cNvPr id="12" name="Picture 11" descr="A bar graph with numbers and text&#10;&#10;AI-generated content may be incorrect.">
            <a:extLst>
              <a:ext uri="{FF2B5EF4-FFF2-40B4-BE49-F238E27FC236}">
                <a16:creationId xmlns:a16="http://schemas.microsoft.com/office/drawing/2014/main" id="{E288DA7E-66BC-2A52-D576-930DBB6463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159" y="5741492"/>
            <a:ext cx="4804546" cy="4346030"/>
          </a:xfrm>
          <a:prstGeom prst="rect">
            <a:avLst/>
          </a:prstGeom>
        </p:spPr>
      </p:pic>
      <p:pic>
        <p:nvPicPr>
          <p:cNvPr id="14" name="Picture 13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DCD579B-7793-AD67-66F7-348351AD0E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" y="402945"/>
            <a:ext cx="5163801" cy="5121555"/>
          </a:xfrm>
          <a:prstGeom prst="rect">
            <a:avLst/>
          </a:prstGeom>
        </p:spPr>
      </p:pic>
      <p:pic>
        <p:nvPicPr>
          <p:cNvPr id="16" name="Picture 15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4C88E749-EB77-71D0-1EBD-71A8126D7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" y="5741493"/>
            <a:ext cx="5161910" cy="4346030"/>
          </a:xfrm>
          <a:prstGeom prst="rect">
            <a:avLst/>
          </a:prstGeom>
        </p:spPr>
      </p:pic>
      <p:pic>
        <p:nvPicPr>
          <p:cNvPr id="18" name="Picture 17" descr="A graph of ram size on computer price&#10;&#10;AI-generated content may be incorrect.">
            <a:extLst>
              <a:ext uri="{FF2B5EF4-FFF2-40B4-BE49-F238E27FC236}">
                <a16:creationId xmlns:a16="http://schemas.microsoft.com/office/drawing/2014/main" id="{E5FD99D7-72B8-51FA-5722-14B2B281DD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055" y="423875"/>
            <a:ext cx="4804545" cy="5100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-154839"/>
            <a:ext cx="9296400" cy="10441839"/>
            <a:chOff x="0" y="0"/>
            <a:chExt cx="1842048" cy="20690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048" cy="2069013"/>
            </a:xfrm>
            <a:custGeom>
              <a:avLst/>
              <a:gdLst/>
              <a:ahLst/>
              <a:cxnLst/>
              <a:rect l="l" t="t" r="r" b="b"/>
              <a:pathLst>
                <a:path w="1842048" h="2069013">
                  <a:moveTo>
                    <a:pt x="0" y="0"/>
                  </a:moveTo>
                  <a:lnTo>
                    <a:pt x="1842048" y="0"/>
                  </a:lnTo>
                  <a:lnTo>
                    <a:pt x="1842048" y="2069013"/>
                  </a:lnTo>
                  <a:lnTo>
                    <a:pt x="0" y="2069013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42048" cy="212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666750"/>
            <a:ext cx="6886575" cy="4886474"/>
            <a:chOff x="0" y="0"/>
            <a:chExt cx="9182100" cy="6515299"/>
          </a:xfrm>
        </p:grpSpPr>
        <p:sp>
          <p:nvSpPr>
            <p:cNvPr id="7" name="TextBox 7"/>
            <p:cNvSpPr txBox="1"/>
            <p:nvPr/>
          </p:nvSpPr>
          <p:spPr>
            <a:xfrm>
              <a:off x="0" y="47625"/>
              <a:ext cx="9182100" cy="23162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09"/>
                </a:lnSpc>
              </a:pPr>
              <a:r>
                <a:rPr lang="en-US" sz="6099" u="none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Performance Correlation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93894"/>
              <a:ext cx="9182100" cy="3621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2400" u="none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correlation chart illustrates a </a:t>
              </a:r>
              <a:r>
                <a:rPr lang="en-US" sz="2400" b="1" u="none" dirty="0">
                  <a:solidFill>
                    <a:srgbClr val="D7DDE6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R² value close to zero</a:t>
              </a:r>
              <a:r>
                <a:rPr lang="en-US" sz="2400" u="none" dirty="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indicating a minimal relationship between performance scores and laptop prices. This suggests that higher performance does not generally lead to increased pricing across the dataset.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666750" y="8724900"/>
            <a:ext cx="1664475" cy="895350"/>
          </a:xfrm>
          <a:custGeom>
            <a:avLst/>
            <a:gdLst/>
            <a:ahLst/>
            <a:cxnLst/>
            <a:rect l="l" t="t" r="r" b="b"/>
            <a:pathLst>
              <a:path w="1664475" h="895350">
                <a:moveTo>
                  <a:pt x="0" y="0"/>
                </a:moveTo>
                <a:lnTo>
                  <a:pt x="1664475" y="0"/>
                </a:lnTo>
                <a:lnTo>
                  <a:pt x="16644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902"/>
            </a:stretch>
          </a:blipFill>
        </p:spPr>
      </p:sp>
      <p:pic>
        <p:nvPicPr>
          <p:cNvPr id="11" name="Picture 10" descr="A graph showing a number of blue circles&#10;&#10;AI-generated content may be incorrect.">
            <a:extLst>
              <a:ext uri="{FF2B5EF4-FFF2-40B4-BE49-F238E27FC236}">
                <a16:creationId xmlns:a16="http://schemas.microsoft.com/office/drawing/2014/main" id="{FAF21AE0-837C-E627-7732-368876F9D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7157285"/>
            <a:ext cx="8915400" cy="3129715"/>
          </a:xfrm>
          <a:prstGeom prst="rect">
            <a:avLst/>
          </a:prstGeom>
        </p:spPr>
      </p:pic>
      <p:pic>
        <p:nvPicPr>
          <p:cNvPr id="13" name="Picture 12" descr="A graph showing a number of blue dots&#10;&#10;AI-generated content may be incorrect.">
            <a:extLst>
              <a:ext uri="{FF2B5EF4-FFF2-40B4-BE49-F238E27FC236}">
                <a16:creationId xmlns:a16="http://schemas.microsoft.com/office/drawing/2014/main" id="{15D0D26C-CC15-1CEA-0CE6-5C5A230F27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569983"/>
            <a:ext cx="8915400" cy="3390901"/>
          </a:xfrm>
          <a:prstGeom prst="rect">
            <a:avLst/>
          </a:prstGeom>
        </p:spPr>
      </p:pic>
      <p:pic>
        <p:nvPicPr>
          <p:cNvPr id="15" name="Picture 14" descr="A graph with many blue dots&#10;&#10;AI-generated content may be incorrect.">
            <a:extLst>
              <a:ext uri="{FF2B5EF4-FFF2-40B4-BE49-F238E27FC236}">
                <a16:creationId xmlns:a16="http://schemas.microsoft.com/office/drawing/2014/main" id="{7025BAFD-2282-2713-C361-237A3C1DA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-1"/>
            <a:ext cx="8915400" cy="33909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724900"/>
            <a:ext cx="9144000" cy="1562100"/>
            <a:chOff x="0" y="0"/>
            <a:chExt cx="1811851" cy="309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1851" cy="309525"/>
            </a:xfrm>
            <a:custGeom>
              <a:avLst/>
              <a:gdLst/>
              <a:ahLst/>
              <a:cxnLst/>
              <a:rect l="l" t="t" r="r" b="b"/>
              <a:pathLst>
                <a:path w="1811851" h="309525">
                  <a:moveTo>
                    <a:pt x="0" y="0"/>
                  </a:moveTo>
                  <a:lnTo>
                    <a:pt x="1811851" y="0"/>
                  </a:lnTo>
                  <a:lnTo>
                    <a:pt x="1811851" y="309525"/>
                  </a:lnTo>
                  <a:lnTo>
                    <a:pt x="0" y="309525"/>
                  </a:lnTo>
                  <a:close/>
                </a:path>
              </a:pathLst>
            </a:custGeom>
            <a:solidFill>
              <a:srgbClr val="4A5D7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11851" cy="366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24900"/>
            <a:ext cx="9144000" cy="1562100"/>
            <a:chOff x="0" y="0"/>
            <a:chExt cx="1625600" cy="277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" cy="277707"/>
            </a:xfrm>
            <a:custGeom>
              <a:avLst/>
              <a:gdLst/>
              <a:ahLst/>
              <a:cxnLst/>
              <a:rect l="l" t="t" r="r" b="b"/>
              <a:pathLst>
                <a:path w="1625600" h="277707">
                  <a:moveTo>
                    <a:pt x="0" y="0"/>
                  </a:moveTo>
                  <a:lnTo>
                    <a:pt x="1625600" y="0"/>
                  </a:lnTo>
                  <a:lnTo>
                    <a:pt x="16256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2A3F6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25600" cy="334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670716"/>
            <a:ext cx="8324850" cy="1066799"/>
            <a:chOff x="0" y="0"/>
            <a:chExt cx="11099800" cy="1422399"/>
          </a:xfrm>
        </p:grpSpPr>
        <p:sp>
          <p:nvSpPr>
            <p:cNvPr id="9" name="TextBox 9"/>
            <p:cNvSpPr txBox="1"/>
            <p:nvPr/>
          </p:nvSpPr>
          <p:spPr>
            <a:xfrm>
              <a:off x="5753100" y="-76200"/>
              <a:ext cx="5346700" cy="1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u="none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Brands in the mid-range category consistently offer </a:t>
              </a:r>
              <a:r>
                <a:rPr lang="en-US" sz="2000" b="1" u="none">
                  <a:solidFill>
                    <a:srgbClr val="4A5D7C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superior value</a:t>
              </a:r>
              <a:r>
                <a:rPr lang="en-US" sz="2000" u="none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compared to premium options.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4A5D7C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Mid-Range Dominance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2800"/>
            <a:ext cx="8324850" cy="1066799"/>
            <a:chOff x="0" y="0"/>
            <a:chExt cx="11099800" cy="1422399"/>
          </a:xfrm>
        </p:grpSpPr>
        <p:sp>
          <p:nvSpPr>
            <p:cNvPr id="12" name="TextBox 12"/>
            <p:cNvSpPr txBox="1"/>
            <p:nvPr/>
          </p:nvSpPr>
          <p:spPr>
            <a:xfrm>
              <a:off x="5753100" y="-76200"/>
              <a:ext cx="5346700" cy="1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Trusted brands maintain a </a:t>
              </a:r>
              <a:r>
                <a:rPr lang="en-US" sz="2000" b="1">
                  <a:solidFill>
                    <a:srgbClr val="4A5D7C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competitive edge</a:t>
              </a:r>
              <a:r>
                <a:rPr lang="en-US" sz="20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in providing quality without excessive pricing.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4A5D7C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Brand Reputation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6038850"/>
            <a:ext cx="8324850" cy="1447799"/>
            <a:chOff x="0" y="0"/>
            <a:chExt cx="11099800" cy="1930399"/>
          </a:xfrm>
        </p:grpSpPr>
        <p:sp>
          <p:nvSpPr>
            <p:cNvPr id="15" name="TextBox 15"/>
            <p:cNvSpPr txBox="1"/>
            <p:nvPr/>
          </p:nvSpPr>
          <p:spPr>
            <a:xfrm>
              <a:off x="5753100" y="-76200"/>
              <a:ext cx="5346700" cy="2006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Successful brands achieve a </a:t>
              </a:r>
              <a:r>
                <a:rPr lang="en-US" sz="2000" b="1">
                  <a:solidFill>
                    <a:srgbClr val="4A5D7C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balance</a:t>
              </a:r>
              <a:r>
                <a:rPr lang="en-US" sz="20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between performance features and reasonable pricing for consumers.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4A5D7C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Performance Balance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99986"/>
            <a:ext cx="6886575" cy="3451600"/>
            <a:chOff x="0" y="0"/>
            <a:chExt cx="9182100" cy="460213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9050"/>
              <a:ext cx="9182100" cy="2394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14"/>
                </a:lnSpc>
                <a:spcBef>
                  <a:spcPct val="0"/>
                </a:spcBef>
              </a:pPr>
              <a:r>
                <a:rPr lang="en-US" sz="6099" u="none" dirty="0">
                  <a:solidFill>
                    <a:srgbClr val="4A5D7C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Value-for-Money Analysis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611534"/>
              <a:ext cx="9182100" cy="990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analysis reveals the </a:t>
              </a:r>
              <a:r>
                <a:rPr lang="en-US" sz="2000" b="1">
                  <a:solidFill>
                    <a:srgbClr val="4A5D7C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top brands</a:t>
              </a:r>
              <a:r>
                <a:rPr lang="en-US" sz="20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that excel in delivering value-for-money, especially among mid-range laptops.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722533"/>
              <a:ext cx="91821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4A5D7C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Identifying Top Brands for VFM</a:t>
              </a:r>
            </a:p>
          </p:txBody>
        </p:sp>
      </p:grp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94D5BFA-AF5C-D8AD-475A-84D349076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960524"/>
              </p:ext>
            </p:extLst>
          </p:nvPr>
        </p:nvGraphicFramePr>
        <p:xfrm>
          <a:off x="485632" y="4381500"/>
          <a:ext cx="6296166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722">
                  <a:extLst>
                    <a:ext uri="{9D8B030D-6E8A-4147-A177-3AD203B41FA5}">
                      <a16:colId xmlns:a16="http://schemas.microsoft.com/office/drawing/2014/main" val="1366662758"/>
                    </a:ext>
                  </a:extLst>
                </a:gridCol>
                <a:gridCol w="2098722">
                  <a:extLst>
                    <a:ext uri="{9D8B030D-6E8A-4147-A177-3AD203B41FA5}">
                      <a16:colId xmlns:a16="http://schemas.microsoft.com/office/drawing/2014/main" val="2700075244"/>
                    </a:ext>
                  </a:extLst>
                </a:gridCol>
                <a:gridCol w="2098722">
                  <a:extLst>
                    <a:ext uri="{9D8B030D-6E8A-4147-A177-3AD203B41FA5}">
                      <a16:colId xmlns:a16="http://schemas.microsoft.com/office/drawing/2014/main" val="448689255"/>
                    </a:ext>
                  </a:extLst>
                </a:gridCol>
              </a:tblGrid>
              <a:tr h="1527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CURRENT PRICE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346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Vostro 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44833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4102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Msi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Bravo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29249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104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Predator 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52794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2869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Lg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Gram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32853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74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Asus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Tuf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49062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664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Huawei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Matebook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40565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9221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Vostro 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42784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456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71987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5036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Samsung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Odyssey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2424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Huawei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Matebook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32151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7899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724900"/>
            <a:ext cx="9144000" cy="1562100"/>
            <a:chOff x="0" y="0"/>
            <a:chExt cx="1811851" cy="309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1851" cy="309525"/>
            </a:xfrm>
            <a:custGeom>
              <a:avLst/>
              <a:gdLst/>
              <a:ahLst/>
              <a:cxnLst/>
              <a:rect l="l" t="t" r="r" b="b"/>
              <a:pathLst>
                <a:path w="1811851" h="309525">
                  <a:moveTo>
                    <a:pt x="0" y="0"/>
                  </a:moveTo>
                  <a:lnTo>
                    <a:pt x="1811851" y="0"/>
                  </a:lnTo>
                  <a:lnTo>
                    <a:pt x="1811851" y="309525"/>
                  </a:lnTo>
                  <a:lnTo>
                    <a:pt x="0" y="309525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11851" cy="366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24900"/>
            <a:ext cx="9144000" cy="1562100"/>
            <a:chOff x="0" y="0"/>
            <a:chExt cx="1625600" cy="277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" cy="277707"/>
            </a:xfrm>
            <a:custGeom>
              <a:avLst/>
              <a:gdLst/>
              <a:ahLst/>
              <a:cxnLst/>
              <a:rect l="l" t="t" r="r" b="b"/>
              <a:pathLst>
                <a:path w="1625600" h="277707">
                  <a:moveTo>
                    <a:pt x="0" y="0"/>
                  </a:moveTo>
                  <a:lnTo>
                    <a:pt x="1625600" y="0"/>
                  </a:lnTo>
                  <a:lnTo>
                    <a:pt x="16256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89A4C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25600" cy="334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670716"/>
            <a:ext cx="8324850" cy="1447799"/>
            <a:chOff x="0" y="0"/>
            <a:chExt cx="11099800" cy="1930399"/>
          </a:xfrm>
        </p:grpSpPr>
        <p:sp>
          <p:nvSpPr>
            <p:cNvPr id="9" name="TextBox 9"/>
            <p:cNvSpPr txBox="1"/>
            <p:nvPr/>
          </p:nvSpPr>
          <p:spPr>
            <a:xfrm>
              <a:off x="5753100" y="-76200"/>
              <a:ext cx="5346700" cy="2006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 u="none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Apple's products consistently showcase high prices driven by brand loyalty and perceived quality.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Apple Premium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2800"/>
            <a:ext cx="8324850" cy="1066799"/>
            <a:chOff x="0" y="0"/>
            <a:chExt cx="11099800" cy="1422399"/>
          </a:xfrm>
        </p:grpSpPr>
        <p:sp>
          <p:nvSpPr>
            <p:cNvPr id="12" name="TextBox 12"/>
            <p:cNvSpPr txBox="1"/>
            <p:nvPr/>
          </p:nvSpPr>
          <p:spPr>
            <a:xfrm>
              <a:off x="5753100" y="-76200"/>
              <a:ext cx="5346700" cy="1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Microsoft laptops often carry added costs due to brand reputation and design innovation.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Microsoft Influence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6038850"/>
            <a:ext cx="8324850" cy="1447799"/>
            <a:chOff x="0" y="0"/>
            <a:chExt cx="11099800" cy="1930399"/>
          </a:xfrm>
        </p:grpSpPr>
        <p:sp>
          <p:nvSpPr>
            <p:cNvPr id="15" name="TextBox 15"/>
            <p:cNvSpPr txBox="1"/>
            <p:nvPr/>
          </p:nvSpPr>
          <p:spPr>
            <a:xfrm>
              <a:off x="5753100" y="-76200"/>
              <a:ext cx="5346700" cy="2006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Current trends indicate that premium pricing does not always correlate with superior specs or performance.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Market Trends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6750" y="647065"/>
            <a:ext cx="6886575" cy="3832600"/>
            <a:chOff x="0" y="0"/>
            <a:chExt cx="9182100" cy="511013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9050"/>
              <a:ext cx="9182100" cy="2394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14"/>
                </a:lnSpc>
                <a:spcBef>
                  <a:spcPct val="0"/>
                </a:spcBef>
              </a:pPr>
              <a:r>
                <a:rPr lang="en-US" sz="6099" u="none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Top 10 Overpriced Laptops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611534"/>
              <a:ext cx="9182100" cy="1498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</a:pPr>
              <a:r>
                <a:rPr lang="en-US" sz="20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This section highlights the top overpriced laptops, focusing on significant brand premiums from leading manufacturers.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722533"/>
              <a:ext cx="9182100" cy="543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4"/>
                </a:lnSpc>
              </a:pPr>
              <a:r>
                <a:rPr lang="en-US" sz="2699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Examining Brand Premium Pricing Trends</a:t>
              </a: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2966D19-F4DC-7979-0850-DA2D9F225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649672"/>
              </p:ext>
            </p:extLst>
          </p:nvPr>
        </p:nvGraphicFramePr>
        <p:xfrm>
          <a:off x="304800" y="4632225"/>
          <a:ext cx="7772400" cy="3804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5668735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16607422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787495623"/>
                    </a:ext>
                  </a:extLst>
                </a:gridCol>
              </a:tblGrid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CURRENT PRICE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5514809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124229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84125935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Air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125388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8850291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Pro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126330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1692005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Air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127432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0913438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Pro 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127330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2216360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Air 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119825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113520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Microsoft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Surface Pro 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114302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335408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Air 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128868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8673046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Air 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125601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6962945"/>
                  </a:ext>
                </a:extLst>
              </a:tr>
              <a:tr h="3458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Macbook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Air 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123818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75037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348" y="8724900"/>
            <a:ext cx="7874473" cy="1562100"/>
            <a:chOff x="0" y="0"/>
            <a:chExt cx="2073935" cy="4114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3935" cy="411417"/>
            </a:xfrm>
            <a:custGeom>
              <a:avLst/>
              <a:gdLst/>
              <a:ahLst/>
              <a:cxnLst/>
              <a:rect l="l" t="t" r="r" b="b"/>
              <a:pathLst>
                <a:path w="2073935" h="411417">
                  <a:moveTo>
                    <a:pt x="0" y="0"/>
                  </a:moveTo>
                  <a:lnTo>
                    <a:pt x="2073935" y="0"/>
                  </a:lnTo>
                  <a:lnTo>
                    <a:pt x="2073935" y="411417"/>
                  </a:lnTo>
                  <a:lnTo>
                    <a:pt x="0" y="411417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73935" cy="468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588"/>
            <a:ext cx="8324850" cy="4468603"/>
            <a:chOff x="0" y="0"/>
            <a:chExt cx="11099800" cy="5958138"/>
          </a:xfrm>
        </p:grpSpPr>
        <p:sp>
          <p:nvSpPr>
            <p:cNvPr id="6" name="TextBox 6"/>
            <p:cNvSpPr txBox="1"/>
            <p:nvPr/>
          </p:nvSpPr>
          <p:spPr>
            <a:xfrm>
              <a:off x="0" y="1727133"/>
              <a:ext cx="11099800" cy="4231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24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analysis highlights that </a:t>
              </a:r>
              <a:r>
                <a:rPr lang="en-US" sz="2400" b="1">
                  <a:solidFill>
                    <a:srgbClr val="D7DDE6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specifications alone do not dictate pricing</a:t>
              </a:r>
              <a:r>
                <a:rPr lang="en-US" sz="2400">
                  <a:solidFill>
                    <a:srgbClr val="D7DD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; rather, brand reputation and market positioning play significant roles. Consumers often pay a premium for established brands, impacting their purchasing decisions and overall market dynamics. Understanding this can help buyers make informed choices in a crowded marketplace.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1241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319"/>
                </a:lnSpc>
              </a:pPr>
              <a:r>
                <a:rPr lang="en-US" sz="6099" u="none">
                  <a:solidFill>
                    <a:srgbClr val="D7DDE6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Brand Impact on Pricing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296400" y="8724900"/>
            <a:ext cx="1664475" cy="895350"/>
          </a:xfrm>
          <a:custGeom>
            <a:avLst/>
            <a:gdLst/>
            <a:ahLst/>
            <a:cxnLst/>
            <a:rect l="l" t="t" r="r" b="b"/>
            <a:pathLst>
              <a:path w="1664475" h="895350">
                <a:moveTo>
                  <a:pt x="0" y="0"/>
                </a:moveTo>
                <a:lnTo>
                  <a:pt x="1664475" y="0"/>
                </a:lnTo>
                <a:lnTo>
                  <a:pt x="16644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90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16348" y="0"/>
            <a:ext cx="7874473" cy="8724900"/>
            <a:chOff x="0" y="0"/>
            <a:chExt cx="1219962" cy="1351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962" cy="1351715"/>
            </a:xfrm>
            <a:custGeom>
              <a:avLst/>
              <a:gdLst/>
              <a:ahLst/>
              <a:cxnLst/>
              <a:rect l="l" t="t" r="r" b="b"/>
              <a:pathLst>
                <a:path w="1219962" h="1351715">
                  <a:moveTo>
                    <a:pt x="0" y="0"/>
                  </a:moveTo>
                  <a:lnTo>
                    <a:pt x="1219962" y="0"/>
                  </a:lnTo>
                  <a:lnTo>
                    <a:pt x="1219962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4"/>
              <a:stretch>
                <a:fillRect t="-350" b="-35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348" y="8724900"/>
            <a:ext cx="7874473" cy="1562100"/>
            <a:chOff x="0" y="0"/>
            <a:chExt cx="2073935" cy="4114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3935" cy="411417"/>
            </a:xfrm>
            <a:custGeom>
              <a:avLst/>
              <a:gdLst/>
              <a:ahLst/>
              <a:cxnLst/>
              <a:rect l="l" t="t" r="r" b="b"/>
              <a:pathLst>
                <a:path w="2073935" h="411417">
                  <a:moveTo>
                    <a:pt x="0" y="0"/>
                  </a:moveTo>
                  <a:lnTo>
                    <a:pt x="2073935" y="0"/>
                  </a:lnTo>
                  <a:lnTo>
                    <a:pt x="2073935" y="411417"/>
                  </a:lnTo>
                  <a:lnTo>
                    <a:pt x="0" y="411417"/>
                  </a:lnTo>
                  <a:close/>
                </a:path>
              </a:pathLst>
            </a:custGeom>
            <a:solidFill>
              <a:srgbClr val="2A3F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73935" cy="468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588"/>
            <a:ext cx="8324850" cy="4011403"/>
            <a:chOff x="0" y="0"/>
            <a:chExt cx="11099800" cy="5348538"/>
          </a:xfrm>
        </p:grpSpPr>
        <p:sp>
          <p:nvSpPr>
            <p:cNvPr id="6" name="TextBox 6"/>
            <p:cNvSpPr txBox="1"/>
            <p:nvPr/>
          </p:nvSpPr>
          <p:spPr>
            <a:xfrm>
              <a:off x="0" y="1727133"/>
              <a:ext cx="11099800" cy="3621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24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To maximize value, consumers should focus on </a:t>
              </a:r>
              <a:r>
                <a:rPr lang="en-US" sz="2400" b="1">
                  <a:solidFill>
                    <a:srgbClr val="4A5D7C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mid-range laptops</a:t>
              </a:r>
              <a:r>
                <a:rPr lang="en-US" sz="24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that offer the best performance for their budget. It's crucial to remain aware of </a:t>
              </a:r>
              <a:r>
                <a:rPr lang="en-US" sz="2400" b="1">
                  <a:solidFill>
                    <a:srgbClr val="4A5D7C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brand premiums</a:t>
              </a:r>
              <a:r>
                <a:rPr lang="en-US" sz="2400">
                  <a:solidFill>
                    <a:srgbClr val="4A5D7C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which can inflate prices without significant benefits. Additionally, adopting transparent pricing strategies can foster informed purchasing decisions and enhance market trust.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1241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319"/>
                </a:lnSpc>
              </a:pPr>
              <a:r>
                <a:rPr lang="en-US" sz="6099" u="none">
                  <a:solidFill>
                    <a:srgbClr val="4A5D7C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Recommendations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296400" y="8724900"/>
            <a:ext cx="1664475" cy="895350"/>
          </a:xfrm>
          <a:custGeom>
            <a:avLst/>
            <a:gdLst/>
            <a:ahLst/>
            <a:cxnLst/>
            <a:rect l="l" t="t" r="r" b="b"/>
            <a:pathLst>
              <a:path w="1664475" h="895350">
                <a:moveTo>
                  <a:pt x="0" y="0"/>
                </a:moveTo>
                <a:lnTo>
                  <a:pt x="1664475" y="0"/>
                </a:lnTo>
                <a:lnTo>
                  <a:pt x="16644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90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16348" y="0"/>
            <a:ext cx="7874473" cy="8724900"/>
            <a:chOff x="0" y="0"/>
            <a:chExt cx="1219962" cy="1351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962" cy="1351715"/>
            </a:xfrm>
            <a:custGeom>
              <a:avLst/>
              <a:gdLst/>
              <a:ahLst/>
              <a:cxnLst/>
              <a:rect l="l" t="t" r="r" b="b"/>
              <a:pathLst>
                <a:path w="1219962" h="1351715">
                  <a:moveTo>
                    <a:pt x="0" y="0"/>
                  </a:moveTo>
                  <a:lnTo>
                    <a:pt x="1219962" y="0"/>
                  </a:lnTo>
                  <a:lnTo>
                    <a:pt x="1219962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4"/>
              <a:stretch>
                <a:fillRect t="-350" b="-35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296400" y="685800"/>
            <a:ext cx="8324850" cy="179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14"/>
              </a:lnSpc>
              <a:spcBef>
                <a:spcPct val="0"/>
              </a:spcBef>
            </a:pPr>
            <a:r>
              <a:rPr lang="en-US" sz="6099">
                <a:solidFill>
                  <a:srgbClr val="D7DDE6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Thank You for Your Attention!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6348" y="8724900"/>
            <a:ext cx="7874473" cy="1562100"/>
            <a:chOff x="0" y="0"/>
            <a:chExt cx="2073935" cy="4114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3935" cy="411417"/>
            </a:xfrm>
            <a:custGeom>
              <a:avLst/>
              <a:gdLst/>
              <a:ahLst/>
              <a:cxnLst/>
              <a:rect l="l" t="t" r="r" b="b"/>
              <a:pathLst>
                <a:path w="2073935" h="411417">
                  <a:moveTo>
                    <a:pt x="0" y="0"/>
                  </a:moveTo>
                  <a:lnTo>
                    <a:pt x="2073935" y="0"/>
                  </a:lnTo>
                  <a:lnTo>
                    <a:pt x="2073935" y="411417"/>
                  </a:lnTo>
                  <a:lnTo>
                    <a:pt x="0" y="411417"/>
                  </a:lnTo>
                  <a:close/>
                </a:path>
              </a:pathLst>
            </a:custGeom>
            <a:solidFill>
              <a:srgbClr val="D7DDE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073935" cy="468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296400" y="8724900"/>
            <a:ext cx="1664475" cy="895350"/>
          </a:xfrm>
          <a:custGeom>
            <a:avLst/>
            <a:gdLst/>
            <a:ahLst/>
            <a:cxnLst/>
            <a:rect l="l" t="t" r="r" b="b"/>
            <a:pathLst>
              <a:path w="1664475" h="895350">
                <a:moveTo>
                  <a:pt x="0" y="0"/>
                </a:moveTo>
                <a:lnTo>
                  <a:pt x="1664475" y="0"/>
                </a:lnTo>
                <a:lnTo>
                  <a:pt x="16644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85902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6348" y="0"/>
            <a:ext cx="7874473" cy="8724900"/>
            <a:chOff x="0" y="0"/>
            <a:chExt cx="1219962" cy="1351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962" cy="1351715"/>
            </a:xfrm>
            <a:custGeom>
              <a:avLst/>
              <a:gdLst/>
              <a:ahLst/>
              <a:cxnLst/>
              <a:rect l="l" t="t" r="r" b="b"/>
              <a:pathLst>
                <a:path w="1219962" h="1351715">
                  <a:moveTo>
                    <a:pt x="0" y="0"/>
                  </a:moveTo>
                  <a:lnTo>
                    <a:pt x="1219962" y="0"/>
                  </a:lnTo>
                  <a:lnTo>
                    <a:pt x="1219962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4"/>
              <a:stretch>
                <a:fillRect t="-350" b="-35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788</Words>
  <Application>Microsoft Office PowerPoint</Application>
  <PresentationFormat>Custom</PresentationFormat>
  <Paragraphs>129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The Youngest Serif</vt:lpstr>
      <vt:lpstr>Aptos Narrow</vt:lpstr>
      <vt:lpstr>Public Sans Bold</vt:lpstr>
      <vt:lpstr>Calibri</vt:lpstr>
      <vt:lpstr>Public Sans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Laptop Pricing Analysis</dc:title>
  <dc:description>Presentation - Laptop Pricing Analysis</dc:description>
  <cp:lastModifiedBy>idris shah</cp:lastModifiedBy>
  <cp:revision>7</cp:revision>
  <dcterms:created xsi:type="dcterms:W3CDTF">2006-08-16T00:00:00Z</dcterms:created>
  <dcterms:modified xsi:type="dcterms:W3CDTF">2025-11-19T16:12:43Z</dcterms:modified>
  <dc:identifier>DAG5JaNf2D4</dc:identifier>
</cp:coreProperties>
</file>